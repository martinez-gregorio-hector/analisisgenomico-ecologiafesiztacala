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Helvetica Neue"/>
      <p:regular r:id="rId13"/>
      <p:bold r:id="rId14"/>
      <p:italic r:id="rId15"/>
      <p:boldItalic r:id="rId16"/>
    </p:embeddedFont>
    <p:embeddedFont>
      <p:font typeface="Helvetica Neue Light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elveticaNeueLight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HelveticaNeue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HelveticaNeue-italic.fntdata"/><Relationship Id="rId14" Type="http://schemas.openxmlformats.org/officeDocument/2006/relationships/font" Target="fonts/HelveticaNeue-bold.fntdata"/><Relationship Id="rId17" Type="http://schemas.openxmlformats.org/officeDocument/2006/relationships/font" Target="fonts/HelveticaNeueLight-regular.fntdata"/><Relationship Id="rId16" Type="http://schemas.openxmlformats.org/officeDocument/2006/relationships/font" Target="fonts/HelveticaNeue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HelveticaNeueLight-italic.fntdata"/><Relationship Id="rId6" Type="http://schemas.openxmlformats.org/officeDocument/2006/relationships/slide" Target="slides/slide1.xml"/><Relationship Id="rId18" Type="http://schemas.openxmlformats.org/officeDocument/2006/relationships/font" Target="fonts/HelveticaNeueLigh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8c3765689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8" name="Google Shape;58;g38c37656896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9ae9cc313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9ae9cc313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8c37656896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8c37656896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9ae9cc3134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9ae9cc3134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9ae9cc3134_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9ae9cc3134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9b13ec51ee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9b13ec51ee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9b13ec51ee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9b13ec51ee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b="0" i="0" sz="9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jpg"/><Relationship Id="rId5" Type="http://schemas.openxmlformats.org/officeDocument/2006/relationships/image" Target="../media/image5.png"/><Relationship Id="rId6" Type="http://schemas.openxmlformats.org/officeDocument/2006/relationships/image" Target="../media/image23.png"/><Relationship Id="rId7" Type="http://schemas.openxmlformats.org/officeDocument/2006/relationships/image" Target="../media/image22.gif"/><Relationship Id="rId8" Type="http://schemas.openxmlformats.org/officeDocument/2006/relationships/image" Target="../media/image21.png"/></Relationships>
</file>

<file path=ppt/slides/_rels/slide2.xml.rels><?xml version="1.0" encoding="UTF-8" standalone="yes"?><Relationships xmlns="http://schemas.openxmlformats.org/package/2006/relationships"><Relationship Id="rId10" Type="http://schemas.openxmlformats.org/officeDocument/2006/relationships/image" Target="../media/image6.png"/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7.png"/><Relationship Id="rId7" Type="http://schemas.openxmlformats.org/officeDocument/2006/relationships/image" Target="../media/image7.png"/><Relationship Id="rId8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16.png"/><Relationship Id="rId5" Type="http://schemas.openxmlformats.org/officeDocument/2006/relationships/image" Target="../media/image12.png"/><Relationship Id="rId6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 rotWithShape="1">
          <a:blip r:embed="rId3">
            <a:alphaModFix/>
          </a:blip>
          <a:srcRect b="20972" l="0" r="0" t="19361"/>
          <a:stretch/>
        </p:blipFill>
        <p:spPr>
          <a:xfrm>
            <a:off x="249635" y="243594"/>
            <a:ext cx="1607976" cy="38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6350" y="4275225"/>
            <a:ext cx="697850" cy="6978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2" name="Google Shape;62;p14"/>
          <p:cNvCxnSpPr/>
          <p:nvPr/>
        </p:nvCxnSpPr>
        <p:spPr>
          <a:xfrm>
            <a:off x="510413" y="702725"/>
            <a:ext cx="0" cy="3545700"/>
          </a:xfrm>
          <a:prstGeom prst="straightConnector1">
            <a:avLst/>
          </a:prstGeom>
          <a:noFill/>
          <a:ln cap="flat" cmpd="sng" w="19050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" name="Google Shape;63;p14"/>
          <p:cNvCxnSpPr/>
          <p:nvPr/>
        </p:nvCxnSpPr>
        <p:spPr>
          <a:xfrm>
            <a:off x="600138" y="702725"/>
            <a:ext cx="0" cy="3545700"/>
          </a:xfrm>
          <a:prstGeom prst="straightConnector1">
            <a:avLst/>
          </a:prstGeom>
          <a:noFill/>
          <a:ln cap="flat" cmpd="sng" w="19050">
            <a:solidFill>
              <a:srgbClr val="D7AB2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" name="Google Shape;64;p14"/>
          <p:cNvCxnSpPr/>
          <p:nvPr/>
        </p:nvCxnSpPr>
        <p:spPr>
          <a:xfrm flipH="1" rot="10800000">
            <a:off x="1866997" y="475725"/>
            <a:ext cx="6394200" cy="300"/>
          </a:xfrm>
          <a:prstGeom prst="straightConnector1">
            <a:avLst/>
          </a:prstGeom>
          <a:noFill/>
          <a:ln cap="flat" cmpd="sng" w="19050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" name="Google Shape;65;p14"/>
          <p:cNvCxnSpPr/>
          <p:nvPr/>
        </p:nvCxnSpPr>
        <p:spPr>
          <a:xfrm>
            <a:off x="1866994" y="364750"/>
            <a:ext cx="6412500" cy="21000"/>
          </a:xfrm>
          <a:prstGeom prst="straightConnector1">
            <a:avLst/>
          </a:prstGeom>
          <a:noFill/>
          <a:ln cap="flat" cmpd="sng" w="19050">
            <a:solidFill>
              <a:srgbClr val="D7AB2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" name="Google Shape;66;p14"/>
          <p:cNvSpPr txBox="1"/>
          <p:nvPr/>
        </p:nvSpPr>
        <p:spPr>
          <a:xfrm>
            <a:off x="1223550" y="728600"/>
            <a:ext cx="74031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1" lang="es-419" sz="1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Modelado de proteínas </a:t>
            </a:r>
            <a:r>
              <a:rPr b="1" i="1" lang="es-419" sz="1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 silico </a:t>
            </a:r>
            <a:r>
              <a:rPr b="1" lang="es-419" sz="1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 docking molecular</a:t>
            </a:r>
            <a:r>
              <a:rPr b="1" i="1" lang="es-419" sz="15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b="1" sz="53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7" name="Google Shape;67;p14"/>
          <p:cNvSpPr/>
          <p:nvPr/>
        </p:nvSpPr>
        <p:spPr>
          <a:xfrm>
            <a:off x="5149675" y="4651925"/>
            <a:ext cx="3685800" cy="4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-419">
                <a:latin typeface="Helvetica Neue"/>
                <a:ea typeface="Helvetica Neue"/>
                <a:cs typeface="Helvetica Neue"/>
                <a:sym typeface="Helvetica Neue"/>
              </a:rPr>
              <a:t>Biol. </a:t>
            </a:r>
            <a:r>
              <a:rPr b="1" lang="es-419">
                <a:latin typeface="Helvetica Neue"/>
                <a:ea typeface="Helvetica Neue"/>
                <a:cs typeface="Helvetica Neue"/>
                <a:sym typeface="Helvetica Neue"/>
              </a:rPr>
              <a:t>Laura Itzel Hernández Romero</a:t>
            </a:r>
            <a:endParaRPr b="1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68" name="Google Shape;6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72347" y="165172"/>
            <a:ext cx="531000" cy="53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4"/>
          <p:cNvPicPr preferRelativeResize="0"/>
          <p:nvPr/>
        </p:nvPicPr>
        <p:blipFill rotWithShape="1">
          <a:blip r:embed="rId6">
            <a:alphaModFix/>
          </a:blip>
          <a:srcRect b="7534" l="11796" r="15834" t="8191"/>
          <a:stretch/>
        </p:blipFill>
        <p:spPr>
          <a:xfrm>
            <a:off x="1900900" y="923800"/>
            <a:ext cx="2561500" cy="2237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4"/>
          <p:cNvPicPr preferRelativeResize="0"/>
          <p:nvPr/>
        </p:nvPicPr>
        <p:blipFill rotWithShape="1">
          <a:blip r:embed="rId7">
            <a:alphaModFix/>
          </a:blip>
          <a:srcRect b="20629" l="0" r="0" t="17381"/>
          <a:stretch/>
        </p:blipFill>
        <p:spPr>
          <a:xfrm>
            <a:off x="3035213" y="3022487"/>
            <a:ext cx="3073574" cy="1683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4"/>
          <p:cNvPicPr preferRelativeResize="0"/>
          <p:nvPr/>
        </p:nvPicPr>
        <p:blipFill rotWithShape="1">
          <a:blip r:embed="rId8">
            <a:alphaModFix/>
          </a:blip>
          <a:srcRect b="7747" l="7864" r="15706" t="5098"/>
          <a:stretch/>
        </p:blipFill>
        <p:spPr>
          <a:xfrm>
            <a:off x="4339850" y="1013300"/>
            <a:ext cx="2349201" cy="2009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6" name="Google Shape;76;p15"/>
          <p:cNvCxnSpPr/>
          <p:nvPr/>
        </p:nvCxnSpPr>
        <p:spPr>
          <a:xfrm rot="10800000">
            <a:off x="4789019" y="-3572925"/>
            <a:ext cx="0" cy="8226300"/>
          </a:xfrm>
          <a:prstGeom prst="straightConnector1">
            <a:avLst/>
          </a:prstGeom>
          <a:noFill/>
          <a:ln cap="flat" cmpd="sng" w="19050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" name="Google Shape;77;p15"/>
          <p:cNvSpPr txBox="1"/>
          <p:nvPr/>
        </p:nvSpPr>
        <p:spPr>
          <a:xfrm>
            <a:off x="548250" y="134125"/>
            <a:ext cx="75489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Uso de diversos programas y bases de datos: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8" name="Google Shape;78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pic>
        <p:nvPicPr>
          <p:cNvPr id="79" name="Google Shape;7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8550" y="616625"/>
            <a:ext cx="1866900" cy="173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20100" y="1457350"/>
            <a:ext cx="1847850" cy="50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5"/>
          <p:cNvPicPr preferRelativeResize="0"/>
          <p:nvPr/>
        </p:nvPicPr>
        <p:blipFill rotWithShape="1">
          <a:blip r:embed="rId5">
            <a:alphaModFix/>
          </a:blip>
          <a:srcRect b="0" l="0" r="0" t="6733"/>
          <a:stretch/>
        </p:blipFill>
        <p:spPr>
          <a:xfrm>
            <a:off x="164750" y="1037350"/>
            <a:ext cx="1200150" cy="59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79100" y="679700"/>
            <a:ext cx="4495800" cy="63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185150" y="3087790"/>
            <a:ext cx="1988850" cy="127948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176000" y="2955700"/>
            <a:ext cx="1387675" cy="1328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014500" y="2169363"/>
            <a:ext cx="1642375" cy="16423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6" name="Google Shape;86;p15"/>
          <p:cNvCxnSpPr>
            <a:stCxn id="81" idx="3"/>
          </p:cNvCxnSpPr>
          <p:nvPr/>
        </p:nvCxnSpPr>
        <p:spPr>
          <a:xfrm>
            <a:off x="1364900" y="1334962"/>
            <a:ext cx="271500" cy="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7" name="Google Shape;87;p15"/>
          <p:cNvCxnSpPr/>
          <p:nvPr/>
        </p:nvCxnSpPr>
        <p:spPr>
          <a:xfrm>
            <a:off x="3505450" y="1005743"/>
            <a:ext cx="271500" cy="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8" name="Google Shape;88;p15"/>
          <p:cNvCxnSpPr>
            <a:stCxn id="82" idx="2"/>
          </p:cNvCxnSpPr>
          <p:nvPr/>
        </p:nvCxnSpPr>
        <p:spPr>
          <a:xfrm flipH="1">
            <a:off x="6026400" y="1317875"/>
            <a:ext cx="600" cy="269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9" name="Google Shape;89;p15"/>
          <p:cNvCxnSpPr>
            <a:stCxn id="80" idx="3"/>
          </p:cNvCxnSpPr>
          <p:nvPr/>
        </p:nvCxnSpPr>
        <p:spPr>
          <a:xfrm>
            <a:off x="6867950" y="1709763"/>
            <a:ext cx="831900" cy="476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" name="Google Shape;90;p15"/>
          <p:cNvCxnSpPr>
            <a:stCxn id="85" idx="1"/>
          </p:cNvCxnSpPr>
          <p:nvPr/>
        </p:nvCxnSpPr>
        <p:spPr>
          <a:xfrm flipH="1">
            <a:off x="6588500" y="2990550"/>
            <a:ext cx="426000" cy="50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1" name="Google Shape;91;p15"/>
          <p:cNvCxnSpPr>
            <a:stCxn id="84" idx="1"/>
          </p:cNvCxnSpPr>
          <p:nvPr/>
        </p:nvCxnSpPr>
        <p:spPr>
          <a:xfrm rot="10800000">
            <a:off x="4174000" y="3619425"/>
            <a:ext cx="1002000" cy="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92" name="Google Shape;92;p1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10475" y="3019650"/>
            <a:ext cx="1200150" cy="12001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3" name="Google Shape;93;p15"/>
          <p:cNvCxnSpPr>
            <a:endCxn id="92" idx="3"/>
          </p:cNvCxnSpPr>
          <p:nvPr/>
        </p:nvCxnSpPr>
        <p:spPr>
          <a:xfrm flipH="1">
            <a:off x="1410625" y="3593625"/>
            <a:ext cx="781500" cy="26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8" name="Google Shape;98;p16"/>
          <p:cNvCxnSpPr/>
          <p:nvPr/>
        </p:nvCxnSpPr>
        <p:spPr>
          <a:xfrm rot="10800000">
            <a:off x="4789019" y="-3572925"/>
            <a:ext cx="0" cy="8226300"/>
          </a:xfrm>
          <a:prstGeom prst="straightConnector1">
            <a:avLst/>
          </a:prstGeom>
          <a:noFill/>
          <a:ln cap="flat" cmpd="sng" w="19050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" name="Google Shape;99;p16"/>
          <p:cNvSpPr txBox="1"/>
          <p:nvPr/>
        </p:nvSpPr>
        <p:spPr>
          <a:xfrm>
            <a:off x="560600" y="140300"/>
            <a:ext cx="75489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¿Qué es y para qué sirve?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0" name="Google Shape;100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pic>
        <p:nvPicPr>
          <p:cNvPr id="101" name="Google Shape;10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525" y="622400"/>
            <a:ext cx="2671059" cy="4368701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6"/>
          <p:cNvSpPr txBox="1"/>
          <p:nvPr/>
        </p:nvSpPr>
        <p:spPr>
          <a:xfrm>
            <a:off x="3235525" y="1278750"/>
            <a:ext cx="53412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dk1"/>
                </a:solidFill>
              </a:rPr>
              <a:t>“El modelado de proteínas es una rama de la bioinformática que busca predecir la estructura tridimensional de una proteína a partir de su secuencia de aminoácidos.”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dk1"/>
                </a:solidFill>
              </a:rPr>
              <a:t>“El docking molecular o acoplamiento molecular es una técnica computacional que permite predecir la interacción entre moléculas”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7" name="Google Shape;107;p17"/>
          <p:cNvCxnSpPr/>
          <p:nvPr/>
        </p:nvCxnSpPr>
        <p:spPr>
          <a:xfrm rot="10800000">
            <a:off x="4789019" y="-3572925"/>
            <a:ext cx="0" cy="8226300"/>
          </a:xfrm>
          <a:prstGeom prst="straightConnector1">
            <a:avLst/>
          </a:prstGeom>
          <a:noFill/>
          <a:ln cap="flat" cmpd="sng" w="19050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" name="Google Shape;108;p17"/>
          <p:cNvSpPr txBox="1"/>
          <p:nvPr/>
        </p:nvSpPr>
        <p:spPr>
          <a:xfrm>
            <a:off x="675875" y="134125"/>
            <a:ext cx="75489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AlphaFold, ColabFold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9" name="Google Shape;109;p17"/>
          <p:cNvSpPr txBox="1"/>
          <p:nvPr/>
        </p:nvSpPr>
        <p:spPr>
          <a:xfrm>
            <a:off x="6772900" y="4773775"/>
            <a:ext cx="2184900" cy="17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7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Jumper, </a:t>
            </a:r>
            <a:r>
              <a:rPr i="1" lang="es-419" sz="7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et al., </a:t>
            </a:r>
            <a:r>
              <a:rPr lang="es-419" sz="7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2021 y Mirdita</a:t>
            </a:r>
            <a:r>
              <a:rPr lang="es-419" sz="7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, </a:t>
            </a:r>
            <a:r>
              <a:rPr i="1" lang="es-419" sz="7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et al.</a:t>
            </a:r>
            <a:r>
              <a:rPr lang="es-419" sz="7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2022.</a:t>
            </a:r>
            <a:endParaRPr sz="7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10" name="Google Shape;110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pic>
        <p:nvPicPr>
          <p:cNvPr id="111" name="Google Shape;11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6675" y="3261075"/>
            <a:ext cx="4538720" cy="148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4500" y="1209625"/>
            <a:ext cx="5452049" cy="187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89325" y="768625"/>
            <a:ext cx="3704775" cy="525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76324" y="768625"/>
            <a:ext cx="2241675" cy="2492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9" name="Google Shape;119;p18"/>
          <p:cNvCxnSpPr/>
          <p:nvPr/>
        </p:nvCxnSpPr>
        <p:spPr>
          <a:xfrm rot="10800000">
            <a:off x="4789019" y="-3572925"/>
            <a:ext cx="0" cy="8226300"/>
          </a:xfrm>
          <a:prstGeom prst="straightConnector1">
            <a:avLst/>
          </a:prstGeom>
          <a:noFill/>
          <a:ln cap="flat" cmpd="sng" w="19050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0" name="Google Shape;120;p18"/>
          <p:cNvSpPr txBox="1"/>
          <p:nvPr/>
        </p:nvSpPr>
        <p:spPr>
          <a:xfrm>
            <a:off x="647050" y="127950"/>
            <a:ext cx="75489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Flujo de trabajo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1" name="Google Shape;121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sp>
        <p:nvSpPr>
          <p:cNvPr id="122" name="Google Shape;122;p18"/>
          <p:cNvSpPr txBox="1"/>
          <p:nvPr/>
        </p:nvSpPr>
        <p:spPr>
          <a:xfrm>
            <a:off x="703900" y="1339900"/>
            <a:ext cx="7588800" cy="20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s-419" sz="1800">
                <a:solidFill>
                  <a:schemeClr val="dk2"/>
                </a:solidFill>
              </a:rPr>
              <a:t>ColabFold - AlphaFold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rgbClr val="0000FF"/>
                </a:solidFill>
              </a:rPr>
              <a:t>AlphaFold2.ipynb</a:t>
            </a:r>
            <a:endParaRPr sz="1800">
              <a:solidFill>
                <a:srgbClr val="0000FF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s-419" sz="1800">
                <a:solidFill>
                  <a:schemeClr val="dk2"/>
                </a:solidFill>
              </a:rPr>
              <a:t>Autodock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700">
                <a:solidFill>
                  <a:srgbClr val="0000FF"/>
                </a:solidFill>
              </a:rPr>
              <a:t>Docking_GRIN2B_QuinolinicAcid.ipynb</a:t>
            </a:r>
            <a:endParaRPr sz="17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7" name="Google Shape;127;p19"/>
          <p:cNvCxnSpPr/>
          <p:nvPr/>
        </p:nvCxnSpPr>
        <p:spPr>
          <a:xfrm rot="10800000">
            <a:off x="4789019" y="-3572925"/>
            <a:ext cx="0" cy="8226300"/>
          </a:xfrm>
          <a:prstGeom prst="straightConnector1">
            <a:avLst/>
          </a:prstGeom>
          <a:noFill/>
          <a:ln cap="flat" cmpd="sng" w="19050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" name="Google Shape;128;p19"/>
          <p:cNvSpPr txBox="1"/>
          <p:nvPr/>
        </p:nvSpPr>
        <p:spPr>
          <a:xfrm>
            <a:off x="647050" y="127950"/>
            <a:ext cx="75489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Análisis SAVES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9" name="Google Shape;12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pic>
        <p:nvPicPr>
          <p:cNvPr id="130" name="Google Shape;130;p19"/>
          <p:cNvPicPr preferRelativeResize="0"/>
          <p:nvPr/>
        </p:nvPicPr>
        <p:blipFill rotWithShape="1">
          <a:blip r:embed="rId3">
            <a:alphaModFix/>
          </a:blip>
          <a:srcRect b="10538" l="0" r="66385" t="5286"/>
          <a:stretch/>
        </p:blipFill>
        <p:spPr>
          <a:xfrm>
            <a:off x="824563" y="896758"/>
            <a:ext cx="936792" cy="9351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9"/>
          <p:cNvPicPr preferRelativeResize="0"/>
          <p:nvPr/>
        </p:nvPicPr>
        <p:blipFill rotWithShape="1">
          <a:blip r:embed="rId4">
            <a:alphaModFix/>
          </a:blip>
          <a:srcRect b="6996" l="2178" r="68773" t="13041"/>
          <a:stretch/>
        </p:blipFill>
        <p:spPr>
          <a:xfrm>
            <a:off x="1805280" y="895078"/>
            <a:ext cx="3300942" cy="36224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06222" y="591927"/>
            <a:ext cx="2912208" cy="413602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9"/>
          <p:cNvSpPr txBox="1"/>
          <p:nvPr/>
        </p:nvSpPr>
        <p:spPr>
          <a:xfrm>
            <a:off x="2820282" y="1109930"/>
            <a:ext cx="868500" cy="422700"/>
          </a:xfrm>
          <a:prstGeom prst="rect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4150" lIns="84150" spcFirstLastPara="1" rIns="84150" wrap="square" tIns="84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28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9"/>
          <p:cNvSpPr txBox="1"/>
          <p:nvPr/>
        </p:nvSpPr>
        <p:spPr>
          <a:xfrm>
            <a:off x="5725066" y="3585636"/>
            <a:ext cx="1788300" cy="289500"/>
          </a:xfrm>
          <a:prstGeom prst="rect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4150" lIns="84150" spcFirstLastPara="1" rIns="84150" wrap="square" tIns="84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28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9"/>
          <p:cNvSpPr txBox="1"/>
          <p:nvPr/>
        </p:nvSpPr>
        <p:spPr>
          <a:xfrm>
            <a:off x="957064" y="1776207"/>
            <a:ext cx="6717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84150" lIns="84150" spcFirstLastPara="1" rIns="84150" wrap="square" tIns="84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20">
                <a:solidFill>
                  <a:schemeClr val="dk1"/>
                </a:solidFill>
              </a:rPr>
              <a:t>HTTQ23</a:t>
            </a:r>
            <a:endParaRPr sz="920">
              <a:solidFill>
                <a:schemeClr val="dk1"/>
              </a:solidFill>
            </a:endParaRPr>
          </a:p>
        </p:txBody>
      </p:sp>
      <p:sp>
        <p:nvSpPr>
          <p:cNvPr id="136" name="Google Shape;136;p19"/>
          <p:cNvSpPr txBox="1"/>
          <p:nvPr/>
        </p:nvSpPr>
        <p:spPr>
          <a:xfrm>
            <a:off x="2056752" y="4468330"/>
            <a:ext cx="2912100" cy="513600"/>
          </a:xfrm>
          <a:prstGeom prst="rect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4150" lIns="84150" spcFirstLastPara="1" rIns="84150" wrap="square" tIns="8415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2"/>
              <a:buFont typeface="Arial"/>
              <a:buNone/>
            </a:pPr>
            <a:r>
              <a:rPr lang="es-419" sz="1012">
                <a:solidFill>
                  <a:schemeClr val="dk1"/>
                </a:solidFill>
              </a:rPr>
              <a:t>Análisis estadístico de interacciones atómicas no covalentes en la cadena peptídica</a:t>
            </a:r>
            <a:endParaRPr sz="1012">
              <a:solidFill>
                <a:schemeClr val="dk1"/>
              </a:solidFill>
            </a:endParaRPr>
          </a:p>
        </p:txBody>
      </p:sp>
      <p:sp>
        <p:nvSpPr>
          <p:cNvPr id="137" name="Google Shape;137;p19"/>
          <p:cNvSpPr txBox="1"/>
          <p:nvPr/>
        </p:nvSpPr>
        <p:spPr>
          <a:xfrm>
            <a:off x="5493290" y="4678730"/>
            <a:ext cx="2271300" cy="460500"/>
          </a:xfrm>
          <a:prstGeom prst="rect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4150" lIns="84150" spcFirstLastPara="1" rIns="84150" wrap="square" tIns="8415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12">
                <a:solidFill>
                  <a:schemeClr val="dk1"/>
                </a:solidFill>
              </a:rPr>
              <a:t>Análisis de ángulos de torsión de los enlaces peptídicos</a:t>
            </a:r>
            <a:endParaRPr sz="1012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2" name="Google Shape;142;p20"/>
          <p:cNvCxnSpPr/>
          <p:nvPr/>
        </p:nvCxnSpPr>
        <p:spPr>
          <a:xfrm rot="10800000">
            <a:off x="4789019" y="-3572925"/>
            <a:ext cx="0" cy="8226300"/>
          </a:xfrm>
          <a:prstGeom prst="straightConnector1">
            <a:avLst/>
          </a:prstGeom>
          <a:noFill/>
          <a:ln cap="flat" cmpd="sng" w="19050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3" name="Google Shape;143;p20"/>
          <p:cNvSpPr txBox="1"/>
          <p:nvPr/>
        </p:nvSpPr>
        <p:spPr>
          <a:xfrm>
            <a:off x="647050" y="127950"/>
            <a:ext cx="75489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Análisis SAVES</a:t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4" name="Google Shape;144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pic>
        <p:nvPicPr>
          <p:cNvPr id="145" name="Google Shape;14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3797" y="736912"/>
            <a:ext cx="3612619" cy="4120267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0"/>
          <p:cNvSpPr txBox="1"/>
          <p:nvPr/>
        </p:nvSpPr>
        <p:spPr>
          <a:xfrm>
            <a:off x="2001010" y="2588265"/>
            <a:ext cx="1629300" cy="156000"/>
          </a:xfrm>
          <a:prstGeom prst="rect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3100" lIns="83100" spcFirstLastPara="1" rIns="83100" wrap="square" tIns="8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18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0"/>
          <p:cNvSpPr txBox="1"/>
          <p:nvPr/>
        </p:nvSpPr>
        <p:spPr>
          <a:xfrm>
            <a:off x="2001010" y="3585793"/>
            <a:ext cx="1629300" cy="156000"/>
          </a:xfrm>
          <a:prstGeom prst="rect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3100" lIns="83100" spcFirstLastPara="1" rIns="83100" wrap="square" tIns="8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18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0"/>
          <p:cNvSpPr txBox="1"/>
          <p:nvPr/>
        </p:nvSpPr>
        <p:spPr>
          <a:xfrm>
            <a:off x="2035646" y="4195373"/>
            <a:ext cx="1546200" cy="93900"/>
          </a:xfrm>
          <a:prstGeom prst="rect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3100" lIns="83100" spcFirstLastPara="1" rIns="83100" wrap="square" tIns="8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18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0"/>
          <p:cNvSpPr txBox="1"/>
          <p:nvPr/>
        </p:nvSpPr>
        <p:spPr>
          <a:xfrm>
            <a:off x="2035646" y="4347756"/>
            <a:ext cx="1733100" cy="156000"/>
          </a:xfrm>
          <a:prstGeom prst="rect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3100" lIns="83100" spcFirstLastPara="1" rIns="83100" wrap="square" tIns="83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18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0"/>
          <p:cNvSpPr txBox="1"/>
          <p:nvPr/>
        </p:nvSpPr>
        <p:spPr>
          <a:xfrm>
            <a:off x="4863868" y="622800"/>
            <a:ext cx="3578400" cy="39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83100" lIns="83100" spcFirstLastPara="1" rIns="83100" wrap="square" tIns="8310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73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s-419" sz="909">
                <a:solidFill>
                  <a:schemeClr val="dk1"/>
                </a:solidFill>
              </a:rPr>
              <a:t>#21. Las cadenas laterales de algunos residuos han perdido su planaridad esperada. Problemas de modelado o relajación energética incorrecta.</a:t>
            </a:r>
            <a:endParaRPr sz="909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73"/>
              </a:spcBef>
              <a:spcAft>
                <a:spcPts val="0"/>
              </a:spcAft>
              <a:buNone/>
            </a:pPr>
            <a:r>
              <a:rPr lang="es-419" sz="909">
                <a:solidFill>
                  <a:schemeClr val="dk1"/>
                </a:solidFill>
              </a:rPr>
              <a:t>#22. Uno o más enlaces conectados a anillos aromáticos están fuera del plano</a:t>
            </a:r>
            <a:endParaRPr sz="909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73"/>
              </a:spcBef>
              <a:spcAft>
                <a:spcPts val="0"/>
              </a:spcAft>
              <a:buNone/>
            </a:pPr>
            <a:r>
              <a:rPr lang="es-419" sz="909">
                <a:solidFill>
                  <a:schemeClr val="dk1"/>
                </a:solidFill>
              </a:rPr>
              <a:t>#34. Distancias interatómicas demasiado cortas entre átomos. Errores de modelado o falta de una correcta minimización energética. </a:t>
            </a:r>
            <a:endParaRPr sz="909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73"/>
              </a:spcBef>
              <a:spcAft>
                <a:spcPts val="0"/>
              </a:spcAft>
              <a:buNone/>
            </a:pPr>
            <a:r>
              <a:rPr lang="es-419" sz="909">
                <a:solidFill>
                  <a:schemeClr val="dk1"/>
                </a:solidFill>
              </a:rPr>
              <a:t>#35. Empaquetamiento anormal de los residuos: hay residuos demasiado expuestos al solvente o en regiones muy densas.</a:t>
            </a:r>
            <a:endParaRPr sz="909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73"/>
              </a:spcBef>
              <a:spcAft>
                <a:spcPts val="0"/>
              </a:spcAft>
              <a:buNone/>
            </a:pPr>
            <a:r>
              <a:rPr lang="es-419" sz="909">
                <a:solidFill>
                  <a:schemeClr val="dk1"/>
                </a:solidFill>
              </a:rPr>
              <a:t>#42. Evalúa la conformación general del esqueleto peptídico, comparándola con estructuras experimentales.</a:t>
            </a:r>
            <a:endParaRPr sz="909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73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s-419" sz="909">
                <a:solidFill>
                  <a:schemeClr val="dk1"/>
                </a:solidFill>
              </a:rPr>
              <a:t>#44. Los factores B o temperatura o desplazamiento atómico indican cuánta variabilidad tiene cada átomo en su posición.</a:t>
            </a:r>
            <a:endParaRPr sz="909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73"/>
              </a:spcBef>
              <a:spcAft>
                <a:spcPts val="364"/>
              </a:spcAft>
              <a:buNone/>
            </a:pPr>
            <a:r>
              <a:rPr lang="es-419" sz="909">
                <a:solidFill>
                  <a:schemeClr val="dk1"/>
                </a:solidFill>
              </a:rPr>
              <a:t>#45. Las cadenas laterales de histidina (His), asparagina (Asn) y glutamina (Gln) probablemente están invertidas por su simetría parcial y es fácil modelarlos incorrectamente, colocando los grupos carbonilo y amino en posiciones opuestas.</a:t>
            </a:r>
            <a:endParaRPr sz="909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